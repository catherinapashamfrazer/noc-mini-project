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-1097280" y="-457200"/>
            <a:ext cx="4114800" cy="4114800"/>
          </a:xfrm>
          <a:prstGeom prst="hexagon">
            <a:avLst/>
          </a:prstGeom>
          <a:noFill/>
          <a:ln w="508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601200" y="3657600"/>
            <a:ext cx="4114800" cy="4114800"/>
          </a:xfrm>
          <a:prstGeom prst="hexagon">
            <a:avLst/>
          </a:prstGeom>
          <a:noFill/>
          <a:ln w="508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solidFill>
            <a:srgbClr val="131924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1737360"/>
            <a:ext cx="201168" cy="338328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64208" y="1737360"/>
            <a:ext cx="9034272" cy="54864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965960"/>
            <a:ext cx="8686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2×2 NETWORK-ON-CHIP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8803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AFF"/>
                </a:solidFill>
              </a:rPr>
              <a:t>DESIGN  //  IMPLEMENTATION  //  SIMULATION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3456432"/>
            <a:ext cx="8412480" cy="36576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0233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0055"/>
                </a:solidFill>
              </a:rPr>
              <a:t>ASHRITH (23011P0415)  |  PRANJAL (23011P0430)  |  CHATHERINA (23011P0445)  |  CHARANDEEP (23011P0446)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262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GUIDE: DR. KARUNAKAR REDDY SIR, PROFESSOR ECE, JNTUH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AFF"/>
                </a:solidFill>
              </a:rPr>
              <a:t>PRESENTER: ASHRITH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A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AFF"/>
                </a:solidFill>
              </a:rPr>
              <a:t>//  THE PROBLEM — SHARED BUS BOTTLENECK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371600"/>
            <a:ext cx="10332720" cy="6400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1417320"/>
            <a:ext cx="10332720" cy="4572000"/>
          </a:xfrm>
          <a:prstGeom prst="rect">
            <a:avLst/>
          </a:prstGeom>
          <a:noFill/>
          <a:ln w="63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499616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5"/>
                </a:solidFill>
              </a:rPr>
              <a:t>CRITICAL LIMITATIONS OF LEGACY SOC DESIGNS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1920240"/>
            <a:ext cx="1000353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1993392"/>
            <a:ext cx="100584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Traditional SoC designs rely on ONE monolithic bus for all core-to-core communication.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Causes severe data traffic jams. Only ONE core can transmit at any given nanosecond.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Does NOT scale. As core count scales past 4 to 8, 16, or 64 cores, the bus chokes.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Power consumption per data transfer increases due to long, highly capacitive wires.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A single faulty link or congested pathway halts the entire processor subsystem.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AFF"/>
                </a:solidFill>
              </a:rPr>
              <a:t>PRESENTER: ASHRITH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A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AFF"/>
                </a:solidFill>
              </a:rPr>
              <a:t>//  THE SOLUTION — NETWORK-ON-CHIP (NOC) PARADIGM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394960" cy="6400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5394960" cy="4572000"/>
          </a:xfrm>
          <a:prstGeom prst="rect">
            <a:avLst/>
          </a:prstGeom>
          <a:noFill/>
          <a:ln w="63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4996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66"/>
                </a:solidFill>
              </a:rPr>
              <a:t>NOC ADVANTAGES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1920240"/>
            <a:ext cx="506577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99339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Replaces the shared bus with an Internet-like packet-switched grid directly on silicon.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Data is fragmented into small packets with embedded destination coordinates.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Supports true parallelism — multiple packets travel simultaneously on independent links.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Scales gracefully: a 2×2 mesh acts as a building block for 4×4 or 8×8 arrays.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394960" cy="45720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371600"/>
            <a:ext cx="539496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417320"/>
            <a:ext cx="5394960" cy="4572000"/>
          </a:xfrm>
          <a:prstGeom prst="rect">
            <a:avLst/>
          </a:prstGeom>
          <a:noFill/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4996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PROJECT AIM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3952" y="1920240"/>
            <a:ext cx="506577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99339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Design and implement a complete 2×2 Mesh NoC in Verilog-2001.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Utilize deterministic XY Routing logic and Valid-Ready flow control.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Verify functionality via behavioral simulation in AMD Vivado 2023.2.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Quantify network limits (throughput, latency, saturation) using MATLAB.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AFF"/>
                </a:solidFill>
              </a:rPr>
              <a:t>PRESENTER: ASHRITH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AFF"/>
                </a:solidFill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AFF"/>
                </a:solidFill>
              </a:rPr>
              <a:t>//  SYSTEM ARCHITECTURE — 2×2 MESH TOPOLOGY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5" y="1207007"/>
            <a:ext cx="10991088" cy="5230368"/>
          </a:xfrm>
          <a:prstGeom prst="rect">
            <a:avLst/>
          </a:prstGeom>
          <a:noFill/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c_architecture_diagram_1783936844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0881360" cy="5120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AFF"/>
                </a:solidFill>
              </a:rPr>
              <a:t>PRESENTER: ASHRITH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AFF"/>
                </a:solidFill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AFF"/>
                </a:solidFill>
              </a:rPr>
              <a:t>//  HARDWARE DESIGN 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18288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02920" cy="1828800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A11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11680"/>
            <a:ext cx="48646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AFF"/>
                </a:solidFill>
              </a:rPr>
              <a:t>fifo.v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68880"/>
            <a:ext cx="48646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A9B8"/>
                </a:solidFill>
              </a:rPr>
              <a:t>Circular FIFO buffer — Depth=4, Width=8 bits. FWFT design. full / empty flag generation.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5577840" cy="18288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502920" cy="182880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3774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A11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011680"/>
            <a:ext cx="48646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0055"/>
                </a:solidFill>
              </a:rPr>
              <a:t>routing_logic.v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468880"/>
            <a:ext cx="48646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A9B8"/>
                </a:solidFill>
              </a:rPr>
              <a:t>XY routing algorithm. Decode packet[7:6] as dest. Compare against node X,Y params.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5577840" cy="18288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502920" cy="182880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A11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023360"/>
            <a:ext cx="48646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66"/>
                </a:solidFill>
              </a:rPr>
              <a:t>router.v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480560"/>
            <a:ext cx="48646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A9B8"/>
                </a:solidFill>
              </a:rPr>
              <a:t>Integrate FIFO + Routing Logic. Implement in_ready = !full, out_valid = !empty.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840480"/>
            <a:ext cx="5577840" cy="18288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840480"/>
            <a:ext cx="502920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389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A11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023360"/>
            <a:ext cx="48646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noc_top.v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480560"/>
            <a:ext cx="48646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A9B8"/>
                </a:solidFill>
              </a:rPr>
              <a:t>Wire 4 router instances into 2×2 mesh. Connect E↔W, N↔S links.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55"/>
                </a:solidFill>
              </a:rPr>
              <a:t>PRESENTER: PRANJAL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AFF"/>
                </a:solidFill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AFF"/>
                </a:solidFill>
              </a:rPr>
              <a:t>//  ROUTER NODE — INTERNAL ARCHITECTURE (ROUTER.V)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0016" y="1207007"/>
            <a:ext cx="7150608" cy="4224528"/>
          </a:xfrm>
          <a:prstGeom prst="rect">
            <a:avLst/>
          </a:prstGeom>
          <a:noFill/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uter_internal_diagram_1783936877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61872"/>
            <a:ext cx="7040880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1261872"/>
            <a:ext cx="3977639" cy="210312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3977639" cy="6400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307592"/>
            <a:ext cx="3977639" cy="2103120"/>
          </a:xfrm>
          <a:prstGeom prst="rect">
            <a:avLst/>
          </a:prstGeom>
          <a:noFill/>
          <a:ln w="63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89888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INSTANTIATION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1810512"/>
            <a:ext cx="364845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883664"/>
            <a:ext cx="37033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fifo_inst #(DEPTH=4, WIDTH=8)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routing_logic_inst #(X_ADDR, Y_ADDR)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X_ADDR, Y_ADDR are top-level params.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3977639" cy="18288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3977639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566160"/>
            <a:ext cx="3977639" cy="1828800"/>
          </a:xfrm>
          <a:prstGeom prst="rect">
            <a:avLst/>
          </a:prstGeom>
          <a:noFill/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648456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SIGNAL ROUTING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4069080"/>
            <a:ext cx="364845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142232"/>
            <a:ext cx="3703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out_packet = fifo_out[7:0]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out_route  = routing_logic output (3 bits)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local_hit  = packet delivered to this node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55"/>
                </a:solidFill>
              </a:rPr>
              <a:t>PRESENTER: PRANJAL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A623"/>
                </a:solidFill>
              </a:rPr>
              <a:t>//  FIFO BUFFER — DEEP DIVE (FIFO.V)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207007"/>
            <a:ext cx="5687568" cy="4681728"/>
          </a:xfrm>
          <a:prstGeom prst="rect">
            <a:avLst/>
          </a:prstGeom>
          <a:noFill/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fo_internals_17841258881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61872"/>
            <a:ext cx="5577840" cy="4572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1261872"/>
            <a:ext cx="5486400" cy="210312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54864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307592"/>
            <a:ext cx="5486400" cy="2103120"/>
          </a:xfrm>
          <a:prstGeom prst="rect">
            <a:avLst/>
          </a:prstGeom>
          <a:noFill/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89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CIRCULAR BUFFER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1810512"/>
            <a:ext cx="515721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883664"/>
            <a:ext cx="521208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Depth = 4. Width = 8 bits.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wr_ptr and rd_ptr (2-bit) wrap mod 4.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do_write = wr_en AND (NOT full OR do_read)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5486400" cy="22860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5486400" cy="6400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566160"/>
            <a:ext cx="5486400" cy="2286000"/>
          </a:xfrm>
          <a:prstGeom prst="rect">
            <a:avLst/>
          </a:prstGeom>
          <a:noFill/>
          <a:ln w="63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6484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5"/>
                </a:solidFill>
              </a:rPr>
              <a:t>FIRST-WORD FALL-THROUGH (FWFT)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4069080"/>
            <a:ext cx="515721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142232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data_out = mem[rd_ptr] — COMBINATIONAL.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No extra clock edge needed to see output data.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empty = (count == 0). full = (count == 4).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55"/>
                </a:solidFill>
              </a:rPr>
              <a:t>PRESENTER: PRANJAL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66"/>
                </a:solidFill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FF66"/>
                </a:solidFill>
              </a:rPr>
              <a:t>//  XY ROUTING ALGORITHM — DECISION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82896" y="1207007"/>
            <a:ext cx="6967728" cy="5458968"/>
          </a:xfrm>
          <a:prstGeom prst="rect">
            <a:avLst/>
          </a:prstGeom>
          <a:noFill/>
          <a:ln w="254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xy_routing_flowchart_17841258698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61872"/>
            <a:ext cx="6858000" cy="5349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1261872"/>
            <a:ext cx="4160520" cy="219456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4160520" cy="6400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307592"/>
            <a:ext cx="4160520" cy="2194560"/>
          </a:xfrm>
          <a:prstGeom prst="rect">
            <a:avLst/>
          </a:prstGeom>
          <a:noFill/>
          <a:ln w="63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8988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66"/>
                </a:solidFill>
              </a:rPr>
              <a:t>DETERMINISTIC ALGORITHM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1810512"/>
            <a:ext cx="3831335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883664"/>
            <a:ext cx="38862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Step 1: Compare destination X vs current X.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Step 2: If X matches, compare destination Y.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Step 3: If both match → LOCAL delivery.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Always routes East/West first, then North/South.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4160520" cy="219456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4160520" cy="6400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611879"/>
            <a:ext cx="4160520" cy="2194560"/>
          </a:xfrm>
          <a:prstGeom prst="rect">
            <a:avLst/>
          </a:prstGeom>
          <a:noFill/>
          <a:ln w="63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694176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ROUTE ENCODING (3-BIT)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4114800"/>
            <a:ext cx="3831335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187952"/>
            <a:ext cx="38862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000 = Idle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001 = Local (Hit)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010 = East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011 = West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100 = South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101 = North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55"/>
                </a:solidFill>
              </a:rPr>
              <a:t>PRESENTER: PRANJAL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0055"/>
                </a:solidFill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0055"/>
                </a:solidFill>
              </a:rPr>
              <a:t>//  FLOW CONTROL — VALID-READY HANDSHAKE 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1207007"/>
            <a:ext cx="7424927" cy="4224528"/>
          </a:xfrm>
          <a:prstGeom prst="rect">
            <a:avLst/>
          </a:prstGeom>
          <a:noFill/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andshake_timing_17841258501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7315200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46720" y="1261872"/>
            <a:ext cx="3657600" cy="20116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61872"/>
            <a:ext cx="3657600" cy="6400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07592"/>
            <a:ext cx="3657600" cy="2011680"/>
          </a:xfrm>
          <a:prstGeom prst="rect">
            <a:avLst/>
          </a:prstGeom>
          <a:noFill/>
          <a:ln w="63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3898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5"/>
                </a:solidFill>
              </a:rPr>
              <a:t>TRANSFER RULE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2" y="1810512"/>
            <a:ext cx="332841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83664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Data transfers ONLY when: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valid == 1 AND ready == 1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Both HIGH on the SAME clock edge.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429000"/>
            <a:ext cx="3657600" cy="20116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429000"/>
            <a:ext cx="3657600" cy="6400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3474720"/>
            <a:ext cx="3657600" cy="2011680"/>
          </a:xfrm>
          <a:prstGeom prst="rect">
            <a:avLst/>
          </a:prstGeom>
          <a:noFill/>
          <a:ln w="63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55701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BACKPRESSURE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11312" y="3977639"/>
            <a:ext cx="332841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4050791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When FIFO fills (full=1): in_ready=0.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Upstream router stalls transmission.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Zero packet loss during heavy load.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66"/>
                </a:solidFill>
              </a:rPr>
              <a:t>PRESENTER: CHATHERINA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A623"/>
                </a:solidFill>
              </a:rPr>
              <a:t>//  PACKET FORMAT &amp; ADDRESS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1408176"/>
            <a:ext cx="11356848" cy="3584448"/>
          </a:xfrm>
          <a:prstGeom prst="rect">
            <a:avLst/>
          </a:prstGeom>
          <a:noFill/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cket_format_diagram_1783936897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34747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120640"/>
            <a:ext cx="11247120" cy="6400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166359"/>
            <a:ext cx="11247120" cy="1463040"/>
          </a:xfrm>
          <a:prstGeom prst="rect">
            <a:avLst/>
          </a:prstGeom>
          <a:noFill/>
          <a:ln w="63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5248655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BIT MAPPING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669279"/>
            <a:ext cx="1091793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742431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Bits [7:6]: 2-bit Destination Address (00=Top-Left, 01=Top-Right, 10=Bottom-Left, 11=Bottom-Right)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Bits [5:2]: Payload / Sequence Number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Bits [1:0]: Fixed signature '01' used by testbench for validation.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66"/>
                </a:solidFill>
              </a:rPr>
              <a:t>PRESENTER: CHATHERINA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59B6"/>
                </a:solidFill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9B59B6"/>
                </a:solidFill>
              </a:rPr>
              <a:t>//  ROUTING PATHS — HOP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96" y="1207007"/>
            <a:ext cx="5504688" cy="5458968"/>
          </a:xfrm>
          <a:prstGeom prst="rect">
            <a:avLst/>
          </a:prstGeom>
          <a:noFill/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c_mesh_routing_paths_17841259076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61872"/>
            <a:ext cx="5394960" cy="5349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1828800"/>
            <a:ext cx="5577840" cy="475488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92807"/>
            <a:ext cx="731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AFF"/>
                </a:solidFill>
              </a:rPr>
              <a:t>HEX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892807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AFF"/>
                </a:solidFill>
              </a:rPr>
              <a:t>BINARY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892807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AFF"/>
                </a:solidFill>
              </a:rPr>
              <a:t>DEST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1892807"/>
            <a:ext cx="18287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AFF"/>
                </a:solidFill>
              </a:rPr>
              <a:t>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892807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AFF"/>
                </a:solidFill>
              </a:rPr>
              <a:t>HOPS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22576"/>
            <a:ext cx="5577840" cy="713232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322576"/>
            <a:ext cx="45720" cy="713232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5117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AFF"/>
                </a:solidFill>
              </a:rPr>
              <a:t>0x01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55117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00 00 00 01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55117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Node(0,0)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551176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Local (Self)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55117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66"/>
                </a:solidFill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54096"/>
            <a:ext cx="5577840" cy="71323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054096"/>
            <a:ext cx="45720" cy="713232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2826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66"/>
                </a:solidFill>
              </a:rPr>
              <a:t>0x45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28269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01 00 01 01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28269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Node(0,1)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282696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28269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66"/>
                </a:solidFill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785616"/>
            <a:ext cx="5577840" cy="713232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785616"/>
            <a:ext cx="45720" cy="713232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01421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0055"/>
                </a:solidFill>
              </a:rPr>
              <a:t>0x99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01421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10 01 10 01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401421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Node(1,0)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014216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South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01421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66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517136"/>
            <a:ext cx="5577840" cy="71323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517136"/>
            <a:ext cx="45720" cy="7132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74573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0xED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474573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11 10 11 01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474573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Node(1,1)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745736"/>
            <a:ext cx="1783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East → South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457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66"/>
                </a:solidFill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66"/>
                </a:solidFill>
              </a:rPr>
              <a:t>PRESENTER: CHATHERINA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AFF"/>
                </a:solidFill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AFF"/>
                </a:solidFill>
              </a:rPr>
              <a:t>//  TESTBENCH ARCHITECTURE &amp; METHODOLOGY (NOC_TOP_TB.V)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5394960" cy="51206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61872"/>
            <a:ext cx="5394960" cy="6400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07592"/>
            <a:ext cx="5394960" cy="5120640"/>
          </a:xfrm>
          <a:prstGeom prst="rect">
            <a:avLst/>
          </a:prstGeom>
          <a:noFill/>
          <a:ln w="63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3898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TESTBENCH STRUCTURE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1810512"/>
            <a:ext cx="506577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883664"/>
            <a:ext cx="51206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CLOCK GEN: 10 ns period (100 MHz clock frequency).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RESET: Held high for first 20 ns to flush all FIFOs.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INJECTION: custom task inject_packet() pushes traffic via tg_valid.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MONITORING: 4 sink modules independently poll sink_valid[3:0].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LOGGING: task record_delivery() writes cycle timestamps to CSV.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TIMEOUT: 1000 ns watchdog prevents infinite loops.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261872"/>
            <a:ext cx="5669280" cy="51206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261872"/>
            <a:ext cx="566928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59" y="1307592"/>
            <a:ext cx="5669280" cy="5120640"/>
          </a:xfrm>
          <a:prstGeom prst="rect">
            <a:avLst/>
          </a:prstGeom>
          <a:noFill/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13898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INJECTION 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1" y="1810512"/>
            <a:ext cx="534009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1883664"/>
            <a:ext cx="5394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Cycle  0: RESET asserted.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Cycle  2: Packet 0x01 injected (Node 0,0)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Cycle  3: Packet 0x45 injected (Node 0,1)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Cycle  4: Packet 0x99 injected (Node 1,0)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Cycle  5: Packet 0xED injected (Node 1,1)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Cycle  7: test_done asserts HIGH. All deliveries confirmed.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66"/>
                </a:solidFill>
              </a:rPr>
              <a:t>PRESENTER: CHATHERINA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AFF"/>
                </a:solidFill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AFF"/>
                </a:solidFill>
              </a:rPr>
              <a:t>//  VIVADO BEHAVIORAL SIMULATION — WAVEFORM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47120" cy="3657600"/>
          </a:xfrm>
          <a:prstGeom prst="rect">
            <a:avLst/>
          </a:prstGeom>
          <a:solidFill>
            <a:srgbClr val="131924"/>
          </a:solidFill>
          <a:ln w="190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EAFF"/>
                </a:solidFill>
              </a:rPr>
              <a:t>[ PASTE VIVADO WAVEFORM SCREENSHOT HERE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120640"/>
            <a:ext cx="11247120" cy="6400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166359"/>
            <a:ext cx="11247120" cy="1463040"/>
          </a:xfrm>
          <a:prstGeom prst="rect">
            <a:avLst/>
          </a:prstGeom>
          <a:noFill/>
          <a:ln w="63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5248655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WAVEFORM OBSERVATIONS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669279"/>
            <a:ext cx="1091793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742431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tg_packet transitions: 01 → 45 → 99 → ED sequentially.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sink_packet[31:0] final value = ED994501. All 4 packets safely stored at destinations.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test_done asserts at cycle 7. injected = delivered = 4 (100% success rate).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PRESENTER: CHARANDEEP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0055"/>
                </a:solidFill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0055"/>
                </a:solidFill>
              </a:rPr>
              <a:t>//  MATLAB PERFORMANCE 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47120" cy="3657600"/>
          </a:xfrm>
          <a:prstGeom prst="rect">
            <a:avLst/>
          </a:prstGeom>
          <a:solidFill>
            <a:srgbClr val="131924"/>
          </a:solidFill>
          <a:ln w="190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0055"/>
                </a:solidFill>
              </a:rPr>
              <a:t>[ PASTE MATLAB 4-PANEL PERFORMANCE PLOT HERE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120640"/>
            <a:ext cx="11247120" cy="6400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166359"/>
            <a:ext cx="11247120" cy="1463040"/>
          </a:xfrm>
          <a:prstGeom prst="rect">
            <a:avLst/>
          </a:prstGeom>
          <a:noFill/>
          <a:ln w="63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5248655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5"/>
                </a:solidFill>
              </a:rPr>
              <a:t>PERFORMANCE METRICS SUMMARY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669279"/>
            <a:ext cx="1091793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742431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Latency: Scales from 4.2 → 8.8 cycles as offered traffic load increases from 10% → 40%.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Packet Loss: Zero loss at ≤ 20% traffic. Sharp exponential rise after 30%.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Saturation: System saturates near 30% load due to FIFO depth (4) filling up.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PRESENTER: CHARANDEEP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A623"/>
                </a:solidFill>
              </a:rPr>
              <a:t>//  LIMITATIONS &amp; FUTURE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5303520" cy="52120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61872"/>
            <a:ext cx="5303520" cy="6400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07592"/>
            <a:ext cx="5303520" cy="5212080"/>
          </a:xfrm>
          <a:prstGeom prst="rect">
            <a:avLst/>
          </a:prstGeom>
          <a:noFill/>
          <a:ln w="63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3898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5"/>
                </a:solidFill>
              </a:rPr>
              <a:t>CURRENT LIMITATIONS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1810512"/>
            <a:ext cx="497433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883664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FIXED XY ROUTING — No alternate paths. Congested links block all traffic needing that route.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SHALLOW BUFFERS — FIFO depth of 4 triggers rapid packet drops past 30% load.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SINGLE TRAFFIC SOURCE — Testbench relies on 1 traffic generator; lacks heavy cross-traffic collision testing.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261872"/>
            <a:ext cx="5669280" cy="52120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261872"/>
            <a:ext cx="5669280" cy="6400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59" y="1307592"/>
            <a:ext cx="5669280" cy="5212080"/>
          </a:xfrm>
          <a:prstGeom prst="rect">
            <a:avLst/>
          </a:prstGeom>
          <a:noFill/>
          <a:ln w="63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13898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66"/>
                </a:solidFill>
              </a:rPr>
              <a:t>FUTURE UPGRADES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1" y="1810512"/>
            <a:ext cx="534009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1883664"/>
            <a:ext cx="5394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ADAPTIVE ROUTING — Query adjacent FIFO fullness to detour packets around congestion.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VIRTUAL CHANNELS — Multiple logical queues per physical link to prevent Head-of-Line blocking.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SILICON PROTOTYPING — Synthesize onto Xilinx Artix-7 FPGA to validate physical timing slack and max MHz.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SCALE OUT — Parameterized architecture easily scales to an 8×8 (64-node) mesh.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PRESENTER: CHARANDEEP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914400"/>
            <a:ext cx="9445752" cy="5029200"/>
          </a:xfrm>
          <a:prstGeom prst="rect">
            <a:avLst/>
          </a:prstGeom>
          <a:solidFill>
            <a:srgbClr val="131924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914400"/>
            <a:ext cx="182880" cy="502920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4300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965960"/>
            <a:ext cx="8595360" cy="36576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2377440"/>
            <a:ext cx="8961120" cy="9144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2377440"/>
            <a:ext cx="109728" cy="914400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2606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[+] COMPLETE RTL DESIGN: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0604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 full Verilog-2001 modules built and tested from scratch.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429000"/>
            <a:ext cx="8961120" cy="9144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3429000"/>
            <a:ext cx="109728" cy="91440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9968" y="3657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66"/>
                </a:solidFill>
              </a:rPr>
              <a:t>[+] ZERO PACKET LOSS: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6576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Valid-Ready handshake successfully prevented data collisions under normal load.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480560"/>
            <a:ext cx="8961120" cy="914400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4480560"/>
            <a:ext cx="109728" cy="91440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4709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5"/>
                </a:solidFill>
              </a:rPr>
              <a:t>[+] SCALABLE ARCHITECTURE: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70916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Modular node design provides a highly scalable foundation for advanced NoCs.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THANK YOU  //  QUESTIONS?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solidFill>
            <a:srgbClr val="131924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6537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PRESENTER: CHARANDEEP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