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6400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10058400" cy="4389120"/>
          </a:xfrm>
          <a:prstGeom prst="rect">
            <a:avLst/>
          </a:prstGeom>
          <a:solidFill>
            <a:srgbClr val="1B2A4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2×2 Network-on-Chip (NoC)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008BD8"/>
                </a:solidFill>
              </a:rPr>
              <a:t>Design  ·  Implementation  ·  Simulation &amp; Performance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127248"/>
            <a:ext cx="75895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7355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RTL Design in Verilog-2001   |   Behavioural Simulation in AMD Vivado 2023.2   |   Analysis in MATLAB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Mini-Project Presentation  —  ECE / VLSI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177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0"/>
                </a:solidFill>
              </a:rPr>
              <a:t>Team Members  |  Roll Numbers  |  Guide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24712"/>
            <a:ext cx="12188952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BD8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Motivation behind building a Network-on-Chip for multi-core processor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440680" cy="2514600"/>
          </a:xfrm>
          <a:prstGeom prst="rect">
            <a:avLst/>
          </a:prstGeom>
          <a:solidFill>
            <a:srgbClr val="1B2A4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89888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The Problem — Shared Bus Bottleneck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828800"/>
            <a:ext cx="516636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5440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Traditional SoC designs use a single shared bus for all core-to-core communication.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Only ONE core can transmit at a time — all others must wait (bus contention).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As core count grows from 2→4→8→16, the bus becomes the #1 performance limiter.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Data transfer speed does NOT scale linearly with the number of cores.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5943600" cy="2514600"/>
          </a:xfrm>
          <a:prstGeom prst="rect">
            <a:avLst/>
          </a:prstGeom>
          <a:solidFill>
            <a:srgbClr val="1B2A4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The Solution — Network-on-Chip (NoC)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28800"/>
            <a:ext cx="5669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874519"/>
            <a:ext cx="5943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Replaces shared bus with a dedicated on-chip packet-switched network.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Data is split into fixed-size packets, each carrying a destination address.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Multiple packets travel simultaneously on different links — true parallelism.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Scales gracefully: a 4×4 mesh supports 16 nodes without redesigning the network.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50208"/>
            <a:ext cx="11640312" cy="2651760"/>
          </a:xfrm>
          <a:prstGeom prst="rect">
            <a:avLst/>
          </a:prstGeom>
          <a:solidFill>
            <a:srgbClr val="1B2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4059936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What We Built — A 2×2 Mesh NoC in Verilog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4498848"/>
            <a:ext cx="1136599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553712"/>
            <a:ext cx="116403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4 Router Nodes arranged in a 2×2 grid — each with an 8-bit FIFO buffer and XY Routing Logic.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Deterministic XY Routing: packets resolve X-coordinate mismatch first (East/West), then Y-coordinate (North/South).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Valid-Ready Handshake Protocol: ensures packets are only transferred when BOTH sender is valid AND receiver is ready.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Traffic Generator injects 4 uniquely addressed test packets; 4 sink monitors confirm delivery timing and correctness.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CCD6E0"/>
                </a:solidFill>
              </a:rPr>
              <a:t>▸  Full testbench verification in AMD Vivado 2023.2, followed by MATLAB performance plotting from exported CSV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24712"/>
            <a:ext cx="12188952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BD8"/>
                </a:solidFill>
              </a:rPr>
              <a:t>Aim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What this project set out to design, verify, and 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11640312" cy="868680"/>
          </a:xfrm>
          <a:prstGeom prst="rect">
            <a:avLst/>
          </a:prstGeom>
          <a:solidFill>
            <a:srgbClr val="1B2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9344"/>
            <a:ext cx="11384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To design, implement in Verilog-2001, simulate in AMD Vivado, and quantitatively analyse the performance of a 2×2 Mesh Network-on-Chip (NoC) capable of routing 8-bit packets using the XY routing algorithm with a valid-ready handshake protocol.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42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566928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502920" cy="12344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1821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0779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8"/>
                </a:solidFill>
              </a:rPr>
              <a:t>Design the FIFO Buffer (fifo.v)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Implement a circular queue with depth=4, width=8 bits using wr_ptr and rd_ptr.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Use First-Word Fall-Through (FWFT) design: assign data_out = mem[rd_ptr] combinationally.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Generate full and empty flags to drive handshake logic.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834640"/>
            <a:ext cx="566928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834640"/>
            <a:ext cx="502920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1821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0779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Design Routing Logic (routing_logic.v)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9184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Decode 2-bit destination address from packet bits [7:6].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Compare destination (X,Y) vs. current router coordinates using XY algorithm.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Output 3-bit out_route: 001=Local, 010=East, 011=West, 100=South, 101=North.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60520"/>
            <a:ext cx="566928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160520"/>
            <a:ext cx="502920" cy="1234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5079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3367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Integrate Router Node (router.v)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Instantiate fifo and routing_logic with parameterised X,Y coordinates.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Derive: in_ready = !full and out_valid = !empty for flow control.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Connect fifo_out[7:6] to routing_logic dest input.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160520"/>
            <a:ext cx="566928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160520"/>
            <a:ext cx="502920" cy="1234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5079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23367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Build Top-Level Mesh (noc_top.v)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61772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Instantiate 4 routers: (0,0), (0,1), (1,0), (1,1).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Wire East output of (0,0) to West input of (0,1); South of (0,0) to North of (1,0); etc.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Connect Traffic Generator to Router(0,0) input; sinks monitor all 4 router outputs.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486400"/>
            <a:ext cx="11640312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486400"/>
            <a:ext cx="502920" cy="123444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8338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559552"/>
            <a:ext cx="10954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6E0"/>
                </a:solidFill>
              </a:rPr>
              <a:t>Verify &amp; Analyse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943600"/>
            <a:ext cx="10954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Run behavioural simulation in Vivado: trace packet lifecycles via waveforms.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Export latency/throughput data to noc_results.csv automatically from testbench.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Plot Latency vs. Traffic, Throughput, Loss Rate, Link Utilisation in MATLAB.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24712"/>
            <a:ext cx="12188952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BD8"/>
                </a:solidFill>
              </a:rPr>
              <a:t>Architecture Diagram — 2×2 Mesh NoC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Four router nodes interconnected via East-West and North-South bidirectional links</a:t>
            </a:r>
          </a:p>
        </p:txBody>
      </p:sp>
      <p:pic>
        <p:nvPicPr>
          <p:cNvPr id="7" name="Picture 6" descr="noc_architecture_diagram_1783936844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61872"/>
            <a:ext cx="1109167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24712"/>
            <a:ext cx="12188952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BD8"/>
                </a:solidFill>
              </a:rPr>
              <a:t>Architecture — Block / Segment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Internal structure of each router node and how the blocks interact</a:t>
            </a:r>
          </a:p>
        </p:txBody>
      </p:sp>
      <p:pic>
        <p:nvPicPr>
          <p:cNvPr id="7" name="Picture 6" descr="router_internal_diagram_1783936877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61872"/>
            <a:ext cx="576072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1261872"/>
            <a:ext cx="5669280" cy="1719072"/>
          </a:xfrm>
          <a:prstGeom prst="rect">
            <a:avLst/>
          </a:prstGeom>
          <a:solidFill>
            <a:srgbClr val="1B2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164592" cy="17190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353312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FIFO Buffer  (fifo.v)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92224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Circular queue of 4 × 8-bit registers (mem[0:3]).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wr_ptr advances on every valid write; rd_ptr advances on every valid read.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FWFT: data_out = mem[rd_ptr] is combinational — no extra read latency.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do_write = wr_en AND (NOT full OR do_read). Allows write-through when full.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full / empty flags update on every clock edge based on counter.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72384"/>
            <a:ext cx="5669280" cy="1719072"/>
          </a:xfrm>
          <a:prstGeom prst="rect">
            <a:avLst/>
          </a:prstGeom>
          <a:solidFill>
            <a:srgbClr val="1B2A4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72384"/>
            <a:ext cx="164592" cy="17190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3163824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Routing Logic  (routing_logic.v)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3602736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Reads dest = fifo_out[7:6] (top 2 bits of the packet).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If dest[1] ≠ Y_param: route North (dest[1]=0) or South (dest[1]=1).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If dest[0] ≠ X_param: route West (dest[0]=0) or East (dest[0]=1).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If dest == {Y_param, X_param}: assert local_hit → deliver to local sink.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Output out_route[2:0] encodes the chosen direction.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82896"/>
            <a:ext cx="5669280" cy="1719072"/>
          </a:xfrm>
          <a:prstGeom prst="rect">
            <a:avLst/>
          </a:prstGeom>
          <a:solidFill>
            <a:srgbClr val="1B2A4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882896"/>
            <a:ext cx="164592" cy="171907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4974336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Router Node  (router.v)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5413248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Instantiates fifo_inst and rl_inst with #(X,Y) parameters.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in_ready = !full: tells upstream 'I have space, send your packet'.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out_valid = !empty: tells downstream 'I have data ready for you'.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fifo_read = out_ready AND out_valid — pops FIFO only on accepted handshake.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out_packet = fifo_out; out_route from routing logic.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074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6E0"/>
                </a:solidFill>
              </a:rPr>
              <a:t>Router Internal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24712"/>
            <a:ext cx="12188952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BD8"/>
                </a:solidFill>
              </a:rPr>
              <a:t>Working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Step-by-step packet journey from injection to delivery — with exact signal behaviour</a:t>
            </a:r>
          </a:p>
        </p:txBody>
      </p:sp>
      <p:pic>
        <p:nvPicPr>
          <p:cNvPr id="7" name="Picture 6" descr="packet_format_diagram_1783936897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61872"/>
            <a:ext cx="539496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6E0"/>
                </a:solidFill>
              </a:rPr>
              <a:t>8-bit Packet Format &amp; Test Vectors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4663440"/>
            <a:ext cx="5394960" cy="2011680"/>
          </a:xfrm>
          <a:prstGeom prst="rect">
            <a:avLst/>
          </a:prstGeom>
          <a:solidFill>
            <a:srgbClr val="1B2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736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XY Routing 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1206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▸  If dest_X ≠ current_X  →  Route East (dest_X &gt; current_X) or West.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▸  Else if dest_Y ≠ current_Y  →  Route South (dest_Y &gt; current_Y) or North.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▸  Else (X match AND Y match)  →  Local delivery. Assert local_hit =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61872"/>
            <a:ext cx="598932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61872"/>
            <a:ext cx="457200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508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335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8"/>
                </a:solidFill>
              </a:rPr>
              <a:t>Step 1 — Reset &amp; Initialise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719072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reset=1 for first 20 ns. All router FIFOs cleared (empty=1, full=0). Traffic generator preloads first packet (0x01) and asserts valid=1.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59152"/>
            <a:ext cx="598932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359152"/>
            <a:ext cx="45720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4323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Step 2 — Packet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2816352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After reset goes low, Router(0,0) sees in_valid=1. Since in_ready=!full=1, the handshake completes. FIFO writes 0x01 at mem[wr_ptr]. wr_ptr increments. empty flag clears.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56432"/>
            <a:ext cx="598932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456432"/>
            <a:ext cx="45720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703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5295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Step 3 — Route &amp; Forward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913631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Routing Logic reads dest=fifo_out[7:6]. For 0x01: dest=00 = Node(0,0) = current node. local_hit asserted. Packet exits to local sink immediately.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553712"/>
            <a:ext cx="598932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553712"/>
            <a:ext cx="457200" cy="100584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800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626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6E0"/>
                </a:solidFill>
              </a:rPr>
              <a:t>Step 4 — Multi-Hop (distant packets)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010912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For 0x99 (dest=10 = Node(1,0)): Router(0,0) routes South → packet hops to Router(1,0) → local_hit. Each hop = 1 clock cycle of delay.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650992"/>
            <a:ext cx="598932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650992"/>
            <a:ext cx="45720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89787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7241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Step 5 — Delivery &amp;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6108192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Testbench records inject_cycle and deliver_cycle per packet. Calculates latency = deliver_cycle - inject_cycle. test_done asserts when all 4 packets delivered.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24712"/>
            <a:ext cx="12188952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BD8"/>
                </a:solidFill>
              </a:rPr>
              <a:t>Simulation Outputs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Vivado behavioural simulation waveforms  |  MATLAB performance analysis graphs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5577840" cy="4572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Vivado XSim — Packet Lifecycle Waveform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5577840" cy="2926080"/>
          </a:xfrm>
          <a:prstGeom prst="rect">
            <a:avLst/>
          </a:prstGeom>
          <a:solidFill>
            <a:srgbClr val="1B2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971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A623"/>
                </a:solidFill>
              </a:rPr>
              <a:t>[ Paste Vivado Waveform Screenshot Here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773168"/>
            <a:ext cx="5577840" cy="1847088"/>
          </a:xfrm>
          <a:prstGeom prst="rect">
            <a:avLst/>
          </a:prstGeom>
          <a:solidFill>
            <a:srgbClr val="1B2A4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846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8"/>
                </a:solidFill>
              </a:rPr>
              <a:t>Waveform 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21208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tg_packet transitions: 01 → 45 → 99 → ED (hex) confirming all 4 packets injected.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sink_valid[3:0] pulses for each sink in sequence: 1 → 2 → 4 → 8.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sink_packet[31:0] final value = ED994501 (all 4 sinks populated).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test_done asserts at t=80 ns (Cycle 7). injected=delivered=4 → 100% delivery.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max_delay = 3 cycles (packet ED, furthest path). avg_delay = 2.0 cycles.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61872"/>
            <a:ext cx="5577840" cy="4572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618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MATLAB — 4-Panel Performance 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737360"/>
            <a:ext cx="5577840" cy="2926080"/>
          </a:xfrm>
          <a:prstGeom prst="rect">
            <a:avLst/>
          </a:prstGeom>
          <a:solidFill>
            <a:srgbClr val="1B2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971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A623"/>
                </a:solidFill>
              </a:rPr>
              <a:t>[ Paste MATLAB Performance Plot Here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773168"/>
            <a:ext cx="5577840" cy="1847088"/>
          </a:xfrm>
          <a:prstGeom prst="rect">
            <a:avLst/>
          </a:prstGeom>
          <a:solidFill>
            <a:srgbClr val="1B2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846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Performance Metrics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21208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Latency: Rises from 4.2 → 8.8 cycles as traffic load increases 10% → 40%.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Throughput: Increases 0.08 → 0.23 packets/cycle (network absorbing more load).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Packet Loss: Zero at ≤20% traffic; jumps sharply above 30% (FIFOs fill up).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Link Utilisation: Scales linearly from 25% → 70% before saturation.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CCD6E0"/>
                </a:solidFill>
              </a:rPr>
              <a:t>▸  Saturation Point: ~30% offered load — routers' depth-4 FIFOs overflow.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24712"/>
            <a:ext cx="12188952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BD8"/>
                </a:solidFill>
              </a:rPr>
              <a:t>Limitations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Current design constraints and potential directions for enhancement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539496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⚠   Limitations of Current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39496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✕  Fixed XY Routing — No Adaptivity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3172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Packets always follow the same deterministic X-then-Y path. If a link is congested or broken, there is no alternate route. Heavy traffic on the East-West axis can stall all packets.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539496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1089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✕  FIFO Depth = 4 Packets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39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Each router buffer holds only 4 packets. Under traffic load &gt;30%, buffers fill completely and new arrivals are dropped. Saturation occurs early and abruptly.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06240"/>
            <a:ext cx="539496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976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✕  Single Traffic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709159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Only Router(0,0) has a Traffic Generator. Real NoCs require simultaneous injection from all nodes. Single-source testing does not stress cross-traffic collision scenarios.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94960"/>
            <a:ext cx="539496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486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✕  No Fault Detection or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9788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There is no watchdog, parity check, or re-transmission mechanism. A faulty packet or stuck router will cause the entire test to timeout silently.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261872"/>
            <a:ext cx="5394960" cy="475488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26187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✦   Future Scope &amp; Enhancements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828800"/>
            <a:ext cx="539496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9202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✔  Adaptive / Congestion-Aware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33172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Routers query FIFO fullness of adjacent neighbours before routing. Packets detour around congested links, improving throughput by 20–40% under heavy load.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017520"/>
            <a:ext cx="539496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1089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✔  Virtual Channels (VC)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520439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Multiple logical queues sharing one physical link. Prevents Head-of-Line blocking where a stalled packet stops all packets behind it in the same FIFO.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206240"/>
            <a:ext cx="539496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2976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✔  Scale to 4×4 or 8×8 Mesh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709159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Parameterise X/Y coordinates (already done per router). Increase NoC grid from 4 nodes to 16 or 64 nodes to model real processor interconnects.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394960"/>
            <a:ext cx="539496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486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✔  FPGA Prototyping on Artix-7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89788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Synthesise and implement on a physical Xilinx Artix-7 FPGA. Measure actual timing (setup/hold slack) and validate real-world clock frequencies ≥100 MHz.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24712"/>
            <a:ext cx="12188952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BD8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What was achieved and why it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07592"/>
            <a:ext cx="5669280" cy="1536192"/>
          </a:xfrm>
          <a:prstGeom prst="rect">
            <a:avLst/>
          </a:prstGeom>
          <a:solidFill>
            <a:srgbClr val="1B2A4A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07592"/>
            <a:ext cx="457200" cy="153619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457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399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8"/>
                </a:solidFill>
              </a:rPr>
              <a:t>Complete RTL Hardware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37943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Delivered 5 fully synthesisable Verilog-2001 modules: fifo.v, routing_logic.v, router.v, traffic_generator.v, and noc_top.v. Each module is independently documented and verified.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07592"/>
            <a:ext cx="5669280" cy="1536192"/>
          </a:xfrm>
          <a:prstGeom prst="rect">
            <a:avLst/>
          </a:prstGeom>
          <a:solidFill>
            <a:srgbClr val="1B2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07592"/>
            <a:ext cx="457200" cy="1536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64792"/>
            <a:ext cx="457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1399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Correct Packet Routing — 100%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837943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All 4 test packets (0x01 → Node 0,0 | 0x45 → Node 0,1 | 0x99 → Node 1,0 | 0xED → Node 1,1) successfully routed and delivered. Zero packet loss under normal load confirmed by Vivado waveforms.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71800"/>
            <a:ext cx="5669280" cy="1536192"/>
          </a:xfrm>
          <a:prstGeom prst="rect">
            <a:avLst/>
          </a:prstGeom>
          <a:solidFill>
            <a:srgbClr val="1B2A4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457200" cy="15361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429000"/>
            <a:ext cx="457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Valid-Ready Protocol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50215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The handshake protocol correctly prevented data loss: no packet transferred unless both out_valid=1 and out_ready=1 simultaneously. FIFO's FWFT design eliminated zero-padding artefacts.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971800"/>
            <a:ext cx="5669280" cy="1536192"/>
          </a:xfrm>
          <a:prstGeom prst="rect">
            <a:avLst/>
          </a:prstGeom>
          <a:solidFill>
            <a:srgbClr val="1B2A4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971800"/>
            <a:ext cx="457200" cy="15361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429000"/>
            <a:ext cx="457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Quantified Performance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350215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MATLAB plots show clear saturation at 30% traffic load. Below this: avg latency ≈ 4.2 cycles, throughput = 0.08 pkt/cycle, zero loss. Above this: exponential latency growth and packet drops.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36008"/>
            <a:ext cx="11640312" cy="1536192"/>
          </a:xfrm>
          <a:prstGeom prst="rect">
            <a:avLst/>
          </a:prstGeom>
          <a:solidFill>
            <a:srgbClr val="1B2A4A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636008"/>
            <a:ext cx="457200" cy="1536192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093208"/>
            <a:ext cx="457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" y="472744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6E0"/>
                </a:solidFill>
              </a:rPr>
              <a:t>Scalable &amp; Extensible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166360"/>
            <a:ext cx="11000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Parameterised X,Y coordinates in each router allow the mesh to scale to 4×4 or larger without restructuring. The modular design is a clean foundation for adaptive routing research.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446520"/>
            <a:ext cx="11640312" cy="16459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6611112"/>
            <a:ext cx="11640312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