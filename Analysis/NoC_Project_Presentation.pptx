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2×2 Network-on-Chip (NoC)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8BD8"/>
                </a:solidFill>
              </a:rPr>
              <a:t>Design, Implementation &amp; Simulation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291840"/>
            <a:ext cx="758952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429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</a:rPr>
              <a:t>RTL Design in Verilog  |  Behavioural Simulation in Vivado  |  Analysis in MATLAB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148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</a:rPr>
              <a:t>Mini-Project 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177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</a:rPr>
              <a:t>ECE / VLSI Design Department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The growing demand for on-chip communication in modern multi-core processors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5486400" cy="246888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4173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801368"/>
            <a:ext cx="52120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Traditional shared-bus designs cause data traffic congestion as core count grows.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All cores must share a single data highway — if one is using it, others wait.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This bottleneck limits the speed and scalability of modern System-on-Chip (SoC) designs.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325880"/>
            <a:ext cx="5943600" cy="246888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The Solution: Network-on-Chip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801368"/>
            <a:ext cx="566928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Brings internet-style packet switching directly onto the microchip.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Data is broken into small 8-bit packets and routed dynamically.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Multiple packets travel simultaneously across different paths — no waiting!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977639"/>
            <a:ext cx="11612880" cy="260604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69079"/>
            <a:ext cx="113385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Why NoC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453127"/>
            <a:ext cx="1133855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Higher Bandwidth — multiple links active simultaneously.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Lower Latency — deterministic, shortest-path routing.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Scalability — easily extended to larger grids (4×4, 8×8) without redesigning.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Industry Relevance — Used in modern GPUs, Tilera, Intel Xeon Phi, ARM big.LITTLE.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Aim of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What this project set out to achieve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3566160" cy="44805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5087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5A623"/>
                </a:solidFill>
              </a:rPr>
              <a:t>🔨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79" y="2304288"/>
            <a:ext cx="329184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24231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Design hardware modules in Verilog for FIFO, Routing Logic, and Router.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Integrate 4 routers into a 2×2 mesh topology.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Implement a valid-ready handshake flow control protocol.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417320"/>
            <a:ext cx="3566160" cy="44805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0520" y="15087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5A623"/>
                </a:solidFill>
              </a:rPr>
              <a:t>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2304288"/>
            <a:ext cx="329184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24231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1752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Develop a self-checking testbench (noc_top_tb.v).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Run behavioural simulation in AMD Vivado.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Confirm 100% correct packet delivery across all 4 paths.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1417320"/>
            <a:ext cx="3566160" cy="44805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50876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>
                <a:solidFill>
                  <a:srgbClr val="F5A623"/>
                </a:solidFill>
              </a:rPr>
              <a:t>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09560" y="2304288"/>
            <a:ext cx="329184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24231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Analyse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301752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Export simulation metrics to a CSV file.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Plot Latency, Throughput, Loss Rate, and Link Utilisation in MATLAB.</a:t>
            </a:r>
          </a:p>
          <a:p>
            <a:pPr>
              <a:spcBef>
                <a:spcPts val="600"/>
              </a:spcBef>
            </a:pPr>
            <a:r>
              <a:rPr sz="1250">
                <a:solidFill>
                  <a:srgbClr val="CCD6E0"/>
                </a:solidFill>
              </a:rPr>
              <a:t>▸  Quantify the network's performance boundaries under varying traffic 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Project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Key targets defined for the successful completion of this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669280" cy="15087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640080" cy="150876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73736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0876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8"/>
                </a:solidFill>
              </a:rPr>
              <a:t>RTL Hardware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202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Develop synthesisable Verilog-2001 modules for FIFO buffer, XY Routing Logic, and the Router node. Each module is independently verified before integration.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417320"/>
            <a:ext cx="5669280" cy="15087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640080" cy="150876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7" y="173736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150876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8"/>
                </a:solidFill>
              </a:rPr>
              <a:t>Network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79" y="192024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Instantiate and wire four router nodes into a 2×2 mesh grid (noc_top.v). Map East/West and North/South ports of adjacent routers to create a fully connected communication fabric.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108960"/>
            <a:ext cx="5669280" cy="15087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108960"/>
            <a:ext cx="640080" cy="150876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342900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2004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8"/>
                </a:solidFill>
              </a:rPr>
              <a:t>Protocol Implementation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61188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Implement the industry-standard valid-ready handshake protocol to ensure collision-free, lossless data transfer between router nodes.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3108960"/>
            <a:ext cx="5669280" cy="15087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59" y="3108960"/>
            <a:ext cx="640080" cy="150876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7" y="342900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79" y="320040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8"/>
                </a:solidFill>
              </a:rPr>
              <a:t>Behavioural Verification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361188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Simulate the complete design in Vivado XSim. Inject 4 test packets, trace their lifecycle via waveforms, and confirm zero-error delivery.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5264" y="4800600"/>
            <a:ext cx="5669280" cy="15087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55264" y="4800600"/>
            <a:ext cx="640080" cy="150876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5120640"/>
            <a:ext cx="594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4" y="4892040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BD8"/>
                </a:solidFill>
              </a:rPr>
              <a:t>Performance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6784" y="5303520"/>
            <a:ext cx="4800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Export latency and throughput metrics from simulation to CSV. Use MATLAB to produce quantitative performance graphs under varied traffic conditions.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Architecture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2×2 Mesh Topology — four router nodes interconnected by East-West and North-South links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508760"/>
            <a:ext cx="2286000" cy="155448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58191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D8"/>
                </a:solidFill>
              </a:rPr>
              <a:t>Router (0,0)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2057400"/>
            <a:ext cx="91440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20756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A623"/>
                </a:solidFill>
              </a:rPr>
              <a:t>FIFO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2057400"/>
            <a:ext cx="100584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20574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Route
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5786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</a:rPr>
              <a:t>▲ Local I/O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22792" y="1508760"/>
            <a:ext cx="2286000" cy="155448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2" y="158191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D8"/>
                </a:solidFill>
              </a:rPr>
              <a:t>Router (0,1)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32519" y="2057400"/>
            <a:ext cx="91440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0756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A623"/>
                </a:solidFill>
              </a:rPr>
              <a:t>FIFO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65792" y="2057400"/>
            <a:ext cx="100584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5792" y="20574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Route
Logic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7152" y="25786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</a:rPr>
              <a:t>▲ Local I/O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4617720"/>
            <a:ext cx="2286000" cy="155448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6908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D8"/>
                </a:solidFill>
              </a:rPr>
              <a:t>Router (1,0)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9888" y="5166359"/>
            <a:ext cx="91440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89888" y="51846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A623"/>
                </a:solidFill>
              </a:rPr>
              <a:t>FIFO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5166359"/>
            <a:ext cx="100584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23160" y="5166359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Route
Logic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6875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</a:rPr>
              <a:t>▲ Local I/O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22792" y="4617720"/>
            <a:ext cx="2286000" cy="155448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68512" y="46908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BD8"/>
                </a:solidFill>
              </a:rPr>
              <a:t>Router (1,1)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32519" y="5166359"/>
            <a:ext cx="91440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19" y="51846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5A623"/>
                </a:solidFill>
              </a:rPr>
              <a:t>FIFO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5166359"/>
            <a:ext cx="1005840" cy="411480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65792" y="5166359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Route
Logic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7152" y="568756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D6E0"/>
                </a:solidFill>
              </a:rPr>
              <a:t>▲ Local I/O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66160" y="2148839"/>
            <a:ext cx="6336792" cy="8229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66160" y="1737360"/>
            <a:ext cx="6336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8BD8"/>
                </a:solidFill>
              </a:rPr>
              <a:t>East ↔ West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5257800"/>
            <a:ext cx="6336792" cy="82296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4846320"/>
            <a:ext cx="6336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8BD8"/>
                </a:solidFill>
              </a:rPr>
              <a:t>East ↔ West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31720" y="3063239"/>
            <a:ext cx="82296" cy="3063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68880" y="3794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5A623"/>
                </a:solidFill>
              </a:rPr>
              <a:t>S ↕ 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74352" y="3063239"/>
            <a:ext cx="82296" cy="3063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811512" y="3794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5A623"/>
                </a:solidFill>
              </a:rPr>
              <a:t>S ↕ 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1508760"/>
            <a:ext cx="1234440" cy="1554480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" y="1691640"/>
            <a:ext cx="1143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CC71"/>
                </a:solidFill>
              </a:rPr>
              <a:t>Traffic
Generator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Architecture — Block Explanation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Each router is composed of three distinct hardware modules working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11640312" cy="1572768"/>
          </a:xfrm>
          <a:prstGeom prst="rect">
            <a:avLst/>
          </a:prstGeom>
          <a:solidFill>
            <a:srgbClr val="1B2A4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2560320" cy="1572768"/>
          </a:xfrm>
          <a:prstGeom prst="rect">
            <a:avLst/>
          </a:prstGeom>
          <a:solidFill>
            <a:srgbClr val="0D1B2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A623"/>
                </a:solidFill>
              </a:rPr>
              <a:t>FIFO Buffer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671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6E0"/>
                </a:solidFill>
              </a:rPr>
              <a:t>fifo.v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581912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Acts as a temporary packet waiting room inside each router.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Depth: 4 packets × 8 bits wide; uses circular write/read pointers.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First-Word Fall-Through (FWFT): data is visible on output instantly, no extra clock cycle needed.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Status flags: full (cannot accept packets) and empty (nothing to send).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136391"/>
            <a:ext cx="11640312" cy="1572768"/>
          </a:xfrm>
          <a:prstGeom prst="rect">
            <a:avLst/>
          </a:prstGeom>
          <a:solidFill>
            <a:srgbClr val="1B2A4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136391"/>
            <a:ext cx="2560320" cy="1572768"/>
          </a:xfrm>
          <a:prstGeom prst="rect">
            <a:avLst/>
          </a:prstGeom>
          <a:solidFill>
            <a:srgbClr val="0D1B2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3319272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ECC71"/>
                </a:solidFill>
              </a:rPr>
              <a:t>Routing Logic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8862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6E0"/>
                </a:solidFill>
              </a:rPr>
              <a:t>routing_logic.v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300984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Reads the 2-bit destination address from packet bits [7:6].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Compares destination (X,Y) against current router coordinates.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XY Algorithm: resolve X-mismatch first (send East/West), then Y-mismatch (South/North).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If X and Y both match → assert local_hit (deliver to local sink).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855464"/>
            <a:ext cx="11640312" cy="1572768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855464"/>
            <a:ext cx="2560320" cy="1572768"/>
          </a:xfrm>
          <a:prstGeom prst="rect">
            <a:avLst/>
          </a:prstGeom>
          <a:solidFill>
            <a:srgbClr val="0D1B2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5038344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BD8"/>
                </a:solidFill>
              </a:rPr>
              <a:t>Router 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60527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CD6E0"/>
                </a:solidFill>
              </a:rPr>
              <a:t>router.v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5020055"/>
            <a:ext cx="8778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Top-level integration of FIFO + Routing Logic.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Implements valid-ready handshake: data transfers ONLY when valid=1 AND ready=1.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in_ready = NOT full  →  signals upstream that space is available.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CCD6E0"/>
                </a:solidFill>
              </a:rPr>
              <a:t>▸  out_valid = NOT empty →  signals downstream that data is waiting.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Working Principle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How packets are injected, routed, and delivered across the 2×2 mesh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2194560" cy="438912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1508760"/>
            <a:ext cx="640080" cy="6400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40280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</a:rPr>
              <a:t>Packet
Injection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72384"/>
            <a:ext cx="1828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3200400"/>
            <a:ext cx="197510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</a:rPr>
              <a:t>Traffic Generator creates an 8-bit packet.
Bits [7:6] = Destination Node Address
Bits [5:4] = Sequence Number
Bits [1:0] = Signature marker (01)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79" y="3200400"/>
            <a:ext cx="256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06624" y="1417320"/>
            <a:ext cx="2194560" cy="438912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3864" y="1508760"/>
            <a:ext cx="640080" cy="6400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508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344" y="2240280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</a:rPr>
              <a:t>FIFO
Storage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04" y="3072384"/>
            <a:ext cx="1828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16352" y="3200400"/>
            <a:ext cx="197510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</a:rPr>
              <a:t>Packet enters the source router's FIFO buffer.
The router asserts in_ready = 1 to accept it.
FIFO stores it at the write pointer location.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3" y="3200400"/>
            <a:ext cx="256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38928" y="1417320"/>
            <a:ext cx="2194560" cy="438912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6168" y="1508760"/>
            <a:ext cx="640080" cy="6400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508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240280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</a:rPr>
              <a:t>Route
Decision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21808" y="3072384"/>
            <a:ext cx="1828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48656" y="3200400"/>
            <a:ext cx="197510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</a:rPr>
              <a:t>Routing Logic compares destination vs. current (X,Y).
XY Algorithm: Fix X first, then Y.
Outputs a 3-bit direction code (East/South/Local).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3200400"/>
            <a:ext cx="256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71232" y="1417320"/>
            <a:ext cx="2194560" cy="438912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48472" y="1508760"/>
            <a:ext cx="640080" cy="6400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8472" y="1508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6952" y="2240280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</a:rPr>
              <a:t>Hop
Forwarding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54112" y="3072384"/>
            <a:ext cx="1828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0" y="3200400"/>
            <a:ext cx="197510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</a:rPr>
              <a:t>Router asserts out_valid = 1.
Next router must assert out_ready = 1 to receive.
Data transfers only on clock edge when both are HIGH.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3200400"/>
            <a:ext cx="256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8BD8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03536" y="1417320"/>
            <a:ext cx="2194560" cy="438912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780776" y="1508760"/>
            <a:ext cx="640080" cy="6400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0776" y="15087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9256" y="2240280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</a:rPr>
              <a:t>Local
Delivery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86416" y="3072384"/>
            <a:ext cx="1828800" cy="4572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13264" y="3200400"/>
            <a:ext cx="1975104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</a:rPr>
              <a:t>When destination X=current X and Y=current Y:
local_hit is asserted.
Packet exits to the sink. Testbench records cycle timestamp.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943600"/>
            <a:ext cx="11640312" cy="658368"/>
          </a:xfrm>
          <a:prstGeom prst="rect">
            <a:avLst/>
          </a:prstGeom>
          <a:solidFill>
            <a:srgbClr val="0D1B2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989320"/>
            <a:ext cx="113659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A623"/>
                </a:solidFill>
              </a:rPr>
              <a:t>Key Protocol:  Valid-Ready Handshake  —  Data is transferred ONLY when out_valid = 1 AND out_ready = 1 simultaneously on the rising clock edge.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Simulation Outputs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Behavioural simulation in Vivado XSim  |  Performance analysis in MATLAB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5577840" cy="4114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44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Vivado Waveform — Packet Lifecycle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5577840" cy="2834640"/>
          </a:xfrm>
          <a:prstGeom prst="rect">
            <a:avLst/>
          </a:prstGeom>
          <a:solidFill>
            <a:srgbClr val="1B2A4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9260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5A623"/>
                </a:solidFill>
              </a:rPr>
              <a:t>[ Paste Vivado Waveform Screenshot Here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709160"/>
            <a:ext cx="5577840" cy="192024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Waveform Key Observations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184648"/>
            <a:ext cx="5303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All 4 packets (01, 45, 99, ED) injected and delivered.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injected_packets = 4,  delivered_packets = 4.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test_done asserts = 1 confirming zero packet loss.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sink_packet = ED994501 (all sinks populated).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325880"/>
            <a:ext cx="5577840" cy="411480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44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MATLAB Performance Graphs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5577840" cy="2834640"/>
          </a:xfrm>
          <a:prstGeom prst="rect">
            <a:avLst/>
          </a:prstGeom>
          <a:solidFill>
            <a:srgbClr val="1B2A4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9260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5A623"/>
                </a:solidFill>
              </a:rPr>
              <a:t>[ Paste MATLAB Performance Plot Here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709160"/>
            <a:ext cx="5577840" cy="192024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D8"/>
                </a:solidFill>
              </a:rPr>
              <a:t>Performance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184648"/>
            <a:ext cx="5303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Avg. Latency = 2.0 cycles  |  Max Latency = 3 cycles.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Throughput = 0.57 packets/cycle at 57% traffic load.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Packet loss begins above 30% traffic load.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CCD6E0"/>
                </a:solidFill>
              </a:rPr>
              <a:t>▸  Link Utilisation reaches ~70% at saturation.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Limitations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Identified constraints of the current design and pathways for enhancement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39496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  ⚠  Limitations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920240"/>
            <a:ext cx="539496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933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✕  Fixed XY Routing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3774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The deterministic XY path cannot bypass congested or failed links, leading to performance degradation under uneven traffic.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999232"/>
            <a:ext cx="539496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07238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✕  Small FIFO Depth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5643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Each router buffer holds only 4 packets. Heavy traffic (&gt;30%) fills buffers rapidly, triggering packet drops.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78224"/>
            <a:ext cx="539496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15137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✕  No Fault Tolerance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53542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The current design has no mechanism to detect or recover from a broken router or link.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5157216"/>
            <a:ext cx="539496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23036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</a:rPr>
              <a:t>✕  Single Traffic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61441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Only one traffic generator injects packets. Real NoCs have simultaneous injection from all nodes.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371600"/>
            <a:ext cx="5577840" cy="457200"/>
          </a:xfrm>
          <a:prstGeom prst="rect">
            <a:avLst/>
          </a:prstGeom>
          <a:solidFill>
            <a:srgbClr val="1A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  ✦  Future Scope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920240"/>
            <a:ext cx="557784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993392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✔  Adaptive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377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Implement congestion-aware algorithms that route packets around busy links, improving throughput under heavy loads.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999232"/>
            <a:ext cx="557784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072384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✔  Virtual Channels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564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Add multiple logical lanes per physical link to eliminate Head-of-Line blocking and allow faster flows to bypass slower ones.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078224"/>
            <a:ext cx="557784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151376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✔  Larger Mesh Topology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5354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Scale the design from 2×2 to a 4×4 or 8×8 grid, enabling real-world NoC architectures used in server-class chips.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157216"/>
            <a:ext cx="5577840" cy="1005840"/>
          </a:xfrm>
          <a:prstGeom prst="rect">
            <a:avLst/>
          </a:prstGeom>
          <a:solidFill>
            <a:srgbClr val="1B2A4A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5230368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✔  FPGA Prototyping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61441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Synthesise and implement the design on a physical FPGA board (e.g., Xilinx Artix-7) to validate real hardware timing.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88952" cy="64008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8BD8"/>
                </a:solidFill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1323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0"/>
                </a:solidFill>
              </a:rPr>
              <a:t>Summary of the project and its significance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577840" cy="1444752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457200" cy="1444752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50876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D8"/>
                </a:solidFill>
              </a:rPr>
              <a:t>Hardware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20240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Successfully designed synthesisable Verilog-2001 RTL modules for a complete 2×2 mesh NoC, covering all layers from the FIFO to the top-level network.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971800"/>
            <a:ext cx="5577840" cy="1444752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971800"/>
            <a:ext cx="457200" cy="1444752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342900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D8"/>
                </a:solidFill>
              </a:rPr>
              <a:t>Protocol Correctness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74720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Implemented and verified a valid-ready handshake protocol ensuring lossless, collision-free packet transfer across all routing paths.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526280"/>
            <a:ext cx="5577840" cy="1444752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526280"/>
            <a:ext cx="457200" cy="1444752"/>
          </a:xfrm>
          <a:prstGeom prst="rect">
            <a:avLst/>
          </a:prstGeom>
          <a:solidFill>
            <a:srgbClr val="008B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98348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BD8"/>
                </a:solidFill>
              </a:rPr>
              <a:t>Verified Functionality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29200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All 4 test packets routed correctly to their respective destination nodes with zero packet loss during normal simulation, confirmed by Vivado waveforms.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417320"/>
            <a:ext cx="5577840" cy="1444752"/>
          </a:xfrm>
          <a:prstGeom prst="rect">
            <a:avLst/>
          </a:prstGeom>
          <a:solidFill>
            <a:srgbClr val="1B2A4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417320"/>
            <a:ext cx="457200" cy="14447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874519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50876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Quantified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1920240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Extracted and visualised latency (avg. 2.0 cycles), throughput (0.57 pkt/cycle), and saturation point (30% traffic) using MATLAB performance plots.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971800"/>
            <a:ext cx="5577840" cy="1444752"/>
          </a:xfrm>
          <a:prstGeom prst="rect">
            <a:avLst/>
          </a:prstGeom>
          <a:solidFill>
            <a:srgbClr val="1B2A4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971800"/>
            <a:ext cx="457200" cy="14447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42900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06324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Foundation for Scalability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474720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The modular design allows straightforward extension to larger topologies, adaptive routing, or FPGA implementation in future work.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526280"/>
            <a:ext cx="5577840" cy="1444752"/>
          </a:xfrm>
          <a:prstGeom prst="rect">
            <a:avLst/>
          </a:prstGeom>
          <a:solidFill>
            <a:srgbClr val="1B2A4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4526280"/>
            <a:ext cx="457200" cy="14447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983480"/>
            <a:ext cx="4572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617720"/>
            <a:ext cx="4892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Learning Outcomes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029200"/>
            <a:ext cx="48920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D6E0"/>
                </a:solidFill>
              </a:rPr>
              <a:t>Demonstrated proficiency in RTL design, testbench development, flow-control protocols, behavioural simulation, and quantitative performance analysis.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6035040"/>
            <a:ext cx="11640312" cy="594360"/>
          </a:xfrm>
          <a:prstGeom prst="rect">
            <a:avLst/>
          </a:prstGeom>
          <a:solidFill>
            <a:srgbClr val="1B2A4A"/>
          </a:solidFill>
          <a:ln w="19050">
            <a:solidFill>
              <a:srgbClr val="008B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053328"/>
            <a:ext cx="11640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8BD8"/>
                </a:solidFill>
              </a:rPr>
              <a:t>Thank You  —  Open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