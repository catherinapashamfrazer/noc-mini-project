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1737360"/>
            <a:ext cx="92354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173736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737360"/>
            <a:ext cx="909828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293B"/>
                </a:solidFill>
              </a:rPr>
              <a:t>2×2 Network-on-Chip (NoC)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Design  |  Implementation  |  Simulation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474720"/>
            <a:ext cx="8412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</a:rPr>
              <a:t>ASHRITH (23011P0415)  |  PRANJAL (23011P0430)  |  CHATHERINA (23011P0445)  |  CHARANDEEP (23011P0446)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434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Guide: Dr. Karunakar Reddy Sir, Professor ECE, JNTUH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Table of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3035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PART 1: Introduction &amp; Literature Survey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057400"/>
            <a:ext cx="49377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148840"/>
            <a:ext cx="493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The Shared Bus Problem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Literature Survey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Project Aim &amp; Proposed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03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PART 2: Architecture &amp; Hardware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57400"/>
            <a:ext cx="49377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93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System Architecture Diagram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Hardware Objectives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Router &amp; FIFO Internals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XY Routing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53035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06908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PART 3: Protocols &amp; Testing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" y="4526280"/>
            <a:ext cx="49377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617720"/>
            <a:ext cx="493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Valid-Ready Handshake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Packet Format &amp; Routing Paths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Testbench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931920"/>
            <a:ext cx="53035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6908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PART 4: Results &amp; Conclusion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526280"/>
            <a:ext cx="49377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17720"/>
            <a:ext cx="493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Vivado Simulation Waveforms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MATLAB Performance Analytics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Limitations &amp; Future Scope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Conclusion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Introduction — The Shared Bus Bottleneck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6984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LIMITATIONS OF LEGACY SOC DESIGNS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057400"/>
            <a:ext cx="1033271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1033271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Traditional SoC designs rely on ONE monolithic shared bus for all core-to-core communication.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Causes severe data traffic jams since only one core can transmit at any given time (serialised access).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Does NOT scale. As core count scales past 4 to 8, 16, or 64 cores, the bus becomes the primary bottleneck.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Power consumption per data transfer increases due to long, highly capacitive wires traversing the entire chip.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Single Point of Failure: A single faulty link or congested pathway halts the entire processor subsystem.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Literature Survey — Evolution of Interconnects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48640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TRADITIONAL TOPOLOGIES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5120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Bus Architecture (AMBA AHB/AXI): Simple, low area overhead, but suffers from severe scalability and contention issues in many-core systems.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Crossbar Switches: Provides non-blocking parallel communication, but area and power scale quadratically (O(N^2)) with the number of cores.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Ring Networks (e.g., Intel Xeon): Better scalability than buses, but worst-case latency grows linearly with the number of nodes.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NETWORK-ON-CHIP (NoC)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65960"/>
            <a:ext cx="5120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Proposed by Dally and Towles (2001) as a scalable packet-switched micro-network directly on silicon.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Mesh Topology: The most widely adopted NoC topology (e.g., Tilera, Intel Polaris) due to its simple grid layout, predictable wire lengths, and linear scalability.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XY Routing Algorithms: Proven to be completely deadlock-free on 2D meshes, making it the industry standard for deterministic routing.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Proposed Solution &amp; Project 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471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NETWORK-ON-CHIP ADVANTAGES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Replaces the shared bus with a scalable, packet-switched grid directly on silicon.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Data is fragmented into small packets with embedded X,Y destination coordinates.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Supports true parallelism — multiple packets travel simultaneously on independent physical links.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PROJECT AIM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Design and implement a complete 2×2 Mesh NoC entirely in synthesisable Verilog-2001.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Utilize deterministic XY Routing logic and Valid-Ready flow control to ensure zero packet loss.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Verify hardware functionality via behavioral simulation waveforms in AMD Vivado 2023.2.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Quantify network limits (throughput, latency, saturation) using MATLAB analytics.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System Architecture — 2×2 Mesh Topology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59" y="1216151"/>
            <a:ext cx="10972800" cy="5212079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oc_architecture_diagram_1783936844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0881360" cy="5120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Hardware Design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457200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</a:rPr>
              <a:t>fifo.v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Circular FIFO buffer — Depth=4, Width=8 bits. FWFT design. Generates full/empty flags.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4572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945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routing_logic.v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XY routing algorithm. Decodes packet[7:6] as destination. Compares against node X,Y params.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45720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router.v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Integrates FIFO + Routing Logic. Derives in_ready = !full, out_valid = !empty.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45720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noc_top.v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Wires 4 router instances into a 2×2 mesh. Connects East↔West, North↔South data links.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Router Node — Internal Architecture (router.v)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216151"/>
            <a:ext cx="7132320" cy="4206240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uter_internal_diagram_1783936877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61872"/>
            <a:ext cx="7040880" cy="4114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1261872"/>
            <a:ext cx="39776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61872"/>
            <a:ext cx="397763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99031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INSTANTIATION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56231"/>
            <a:ext cx="361187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47672"/>
            <a:ext cx="3611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fifo_inst #(DEPTH=4, WIDTH=8)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routing_logic_inst #(X_ADDR, Y_ADDR)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X_ADDR, Y_ADDR are top-level module parameters.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39776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3977639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SIGNAL ROUTING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361187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3611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out_packet = fifo_out[7:0]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out_route  = routing_logic output (3 bits)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local_hit  = packet delivered to this exact node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FIFO Buffer — Deep Dive (fifo.v)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16151"/>
            <a:ext cx="5669279" cy="4663440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fo_internals_1784125888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61872"/>
            <a:ext cx="557784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1261872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61872"/>
            <a:ext cx="5486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9903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CIRCULAR BUFFER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56231"/>
            <a:ext cx="5120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4767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Depth = 4. Width = 8 bits.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wr_ptr and rd_ptr (2-bit) pointers wrap mod 4.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do_write = wr_en AND (NOT full OR do_read)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FIRST-WORD FALL-THROUGH (FWFT)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5120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data_out = mem[rd_ptr] — Purely COMBINATIONAL.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No extra clock edge needed to see output data on the bus.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empty = (count == 0). full = (count == 4).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XY Routing Algorithm — Decision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216151"/>
            <a:ext cx="6949440" cy="5440679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xy_routing_flowchart_1784125869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61872"/>
            <a:ext cx="6858000" cy="5349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1261872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61872"/>
            <a:ext cx="41605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99031"/>
            <a:ext cx="3794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DETERMINISTIC ALGORITHM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56231"/>
            <a:ext cx="37947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47672"/>
            <a:ext cx="3794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Step 1: Compare destination X vs current X.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Step 2: If X matches, compare destination 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Step 3: If both match → LOCAL delivery.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Rule: Always routes East/West first, then North/South.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4160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3794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ROUTE ENCODING (3-bit)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37947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3794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000 = Idle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001 = Local (Hit)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010 = East,  011 = West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100 = South, 101 = North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Flow Control — Valid-Ready Handshake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16151"/>
            <a:ext cx="7406640" cy="4206240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andshake_timing_17841258501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7315200" cy="4114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46720" y="1261872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61872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990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TRANSFER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56231"/>
            <a:ext cx="32918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47672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Data transfers ONLY when: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valid == 1 AND ready == 1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Both must be HIGH on the SAME rising clock 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4290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42900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BACKPRESSURE MECHANISM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023360"/>
            <a:ext cx="32918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When FIFO fills (full=1): in_ready is pulled to 0.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Upstream router stalls transmission immediately.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Guarantees zero packet loss during heavy load.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Packet Format &amp; Address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38560" cy="3566160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et_format_diagram_1783936897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3474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11247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BIT MAPPING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1500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Bits [7:6]: 2-bit Destination Address (00=Top-Left, 01=Top-Right, 10=Bottom-Left, 11=Bottom-Right)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Bits [5:2]: Payload / Sequence Number (used to identify unique packets)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Bits [1:0]: Fixed signature '01' used by the testbench to validate correct packet types.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Routing Paths — Hop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16151"/>
            <a:ext cx="5486400" cy="5440679"/>
          </a:xfrm>
          <a:prstGeom prst="rect">
            <a:avLst/>
          </a:prstGeom>
          <a:solidFill>
            <a:srgbClr val="070A11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oc_mesh_routing_paths_1784125907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61872"/>
            <a:ext cx="5394960" cy="5349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1828800"/>
            <a:ext cx="557784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92807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9280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892807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1892807"/>
            <a:ext cx="1828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8928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22576"/>
            <a:ext cx="55778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0x01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55117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00 00 00 01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55117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Node(0,0)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55117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Local (Self)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5511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5577840" cy="7132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826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0x45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2826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01 00 01 01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28269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Node(0,1)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28269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2826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85616"/>
            <a:ext cx="55778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1421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0x99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01421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10 01 10 01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1421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Node(1,0)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01421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South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0142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17136"/>
            <a:ext cx="5577840" cy="7132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4573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0xED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74573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11 10 11 01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74573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Node(1,1)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74573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East → South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7457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Testbench Architecture (noc_top_tb.v)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3327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SIMULATION ENVIRONMENT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965960"/>
            <a:ext cx="9966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CLOCK GEN: 10 ns period (100 MHz clock frequency).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RESET: Held high for the first 20 ns to flush all router FIFOs.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INJECTION: A custom task inject_packet() pushes traffic via tg_valid into Router(0,0).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MONITORING: 4 sink modules independently poll sink_valid[3:0] at every clock edge.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LOGGING: task record_delivery() writes exact cycle timestamps to noc_results.csv.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TIMEOUT: 1000 ns watchdog prevents infinite loops in case of deadlocks.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Simulation Injection 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3327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CHRONOLOGICAL EVENT TRACE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965960"/>
            <a:ext cx="9966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Cycle  0: RESET asserted. All hardware initialized to safe states.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Cycle  2: Packet 0x01 injected (Dest: Node 0,0). Delivered locally.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Cycle  3: Packet 0x45 injected (Dest: Node 0,1). Sent across East link.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Cycle  4: Packet 0x99 injected (Dest: Node 1,0). Sent across South link.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Cycle  5: Packet 0xED injected (Dest: Node 1,1). Takes L-shaped East-then-South path.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Cycle  7: test_done asserts HIGH. All 4 deliveries confirmed perfectly.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Vivado Behavioral Simulation — Waveforms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2563EB"/>
                </a:solidFill>
              </a:rPr>
              <a:t>[ PASTE VIVADO WAVEFORM SCREENSHOT HERE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11247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WAVEFORM OBSERVATIONS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1500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tg_packet transitions: 01 → 45 → 99 → ED sequentially over 4 clock cycles.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sink_packet[31:0] final value = ED994501. All 4 packets safely stored at destinations.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test_done asserts at cycle 7. injected = delivered = 4 (100% routing success rate).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MATLAB Performance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3AED"/>
                </a:solidFill>
              </a:rPr>
              <a:t>[ PASTE MATLAB 4-PANEL PERFORMANCE PLOT HERE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112471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PERFORMANCE METRICS SUMMARY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1500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Latency: Scales from 4.2 → 8.8 cycles as offered traffic load increases from 10% → 40%.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Packet Loss: Zero loss at ≤ 20% traffic. Sharp exponential rise after 30%.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Saturation: System saturates near 30% load due to FIFO depth (4) filling 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System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3327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CURRENT ARCHITECTURAL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965960"/>
            <a:ext cx="9966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FIXED XY ROUTING: Deterministic routing provides no alternate paths. Congested links block all traffic needing that route, even if other links are free.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SHALLOW BUFFERS: A FIFO depth of 4 triggers rapid packet drops past 30% load. It cannot absorb burst traffic effectively.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SINGLE TRAFFIC SOURCE: The testbench relies on 1 traffic generator; it lacks heavy cross-traffic collision testing from all 4 nodes simultaneously.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NO FAULT TOLERANCE: No watchdog per link, no parity checking, and no packet retransmission. A dropped packet is silently lost.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Future Scope &amp; Enhancements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3327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UPGRADE TRAJECTORY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965960"/>
            <a:ext cx="9966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ADAPTIVE ROUTING: Query adjacent FIFO fullness to detour packets dynamically around congestion. Can yield 20–40% throughput improvement.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VIRTUAL CHANNELS: Add multiple logical queues per physical link to prevent Head-of-Line (HoL) blocking between fast and slow flows.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SILICON PROTOTYPING: Synthesize onto a physical Xilinx Artix-7 FPGA to validate physical setup/hold timing slack and maximum clock frequency.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64748B"/>
                </a:solidFill>
              </a:rPr>
              <a:t>• SCALE OUT: Parameterized architecture easily scales to an 8×8 (64-node) mesh for server-class processor simulation.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3657600" cy="86868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9445752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137160" cy="502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14300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E293B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965960"/>
            <a:ext cx="8595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377440"/>
            <a:ext cx="896112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377440"/>
            <a:ext cx="9144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COMPLETE RTL DESIGN: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5 full synthesisable Verilog-2001 modules built and tested from scratch.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246120"/>
            <a:ext cx="896112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3246120"/>
            <a:ext cx="9144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ZERO PACKET LOSS: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Valid-Ready handshake successfully prevented data collisions under normal load.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114800"/>
            <a:ext cx="896112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4114800"/>
            <a:ext cx="9144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QUANTIFIED METRICS: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2976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MATLAB plots proved saturation at 30% traffic load with avg latency = 2.0 cycles.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983479"/>
            <a:ext cx="896112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4983479"/>
            <a:ext cx="9144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51663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SCALABLE ARCHITECTURE: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66359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Modular node design provides a highly scalable foundation for advanced NoCs.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THANK YOU  |  QUESTIONS?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64922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6519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