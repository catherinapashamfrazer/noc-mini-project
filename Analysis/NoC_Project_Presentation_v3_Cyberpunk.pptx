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-1828800" y="-914400"/>
            <a:ext cx="5486400" cy="5486400"/>
          </a:xfrm>
          <a:prstGeom prst="hexagon">
            <a:avLst/>
          </a:prstGeom>
          <a:noFill/>
          <a:ln w="635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8229600" y="2743200"/>
            <a:ext cx="5486400" cy="5486400"/>
          </a:xfrm>
          <a:prstGeom prst="hexagon">
            <a:avLst/>
          </a:prstGeom>
          <a:noFill/>
          <a:ln w="635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828800"/>
            <a:ext cx="9445752" cy="3200400"/>
          </a:xfrm>
          <a:prstGeom prst="rect">
            <a:avLst/>
          </a:prstGeom>
          <a:solidFill>
            <a:srgbClr val="070A11"/>
          </a:solidFill>
          <a:ln w="381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182880" cy="320040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1031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SYSTEM_INIT: 2×2 NOC MESH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108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AFF"/>
                </a:solidFill>
              </a:rPr>
              <a:t>VERILOG RTL  //  VIVADO XSIM  //  MATLAB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PROJECT_CLASSIFICATION: HIGH PERFORMANCE INTERCONNECTS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2062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55"/>
                </a:solidFill>
              </a:rPr>
              <a:t>AUTHORS: [ TEAM MEMBERS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THE SHARED BUS BOTTLENECK VS. NOC PARADIGM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303520" cy="7315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CRITICAL ERROR: SHARED BUS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49377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Legacy SoC designs rely on a single monolithic bus for communication.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Causes severe data traffic jams. Only ONE core can transmit at any given nanosecond.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Does NOT scale. As core count scales to 16+, the bus chokes and performance plummets.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508760"/>
            <a:ext cx="5303520" cy="4754880"/>
          </a:xfrm>
          <a:prstGeom prst="rect">
            <a:avLst/>
          </a:prstGeom>
          <a:noFill/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303520" cy="7315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0020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RESOLUTION: NETWORK-ON-CHIP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93775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Brings packet-switched networking (like the Internet) directly to the silicon die.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Data is fragmented into 8-bit packets with embedded X,Y coordinate headers.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Allows parallel, simultaneous data flows across independent physical links.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Highly scalable 2×2 mesh topology easily ports to 8×8 arrays without redesign.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PROJECT OBJECTIVES &amp; TECHNICAL SCOPE</a:t>
            </a:r>
          </a:p>
        </p:txBody>
      </p:sp>
      <p:sp>
        <p:nvSpPr>
          <p:cNvPr id="9" name="Hexagon 8"/>
          <p:cNvSpPr/>
          <p:nvPr/>
        </p:nvSpPr>
        <p:spPr>
          <a:xfrm>
            <a:off x="457200" y="1463040"/>
            <a:ext cx="731520" cy="731520"/>
          </a:xfrm>
          <a:prstGeom prst="hexagon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1554480"/>
            <a:ext cx="10058400" cy="548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1554480"/>
            <a:ext cx="91440" cy="54864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AFF"/>
                </a:solidFill>
              </a:rPr>
              <a:t>HARDWARE RTL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70992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fifo.v, routing_logic.v, router.v synthesized in Verilog-2001.</a:t>
            </a:r>
          </a:p>
        </p:txBody>
      </p:sp>
      <p:sp>
        <p:nvSpPr>
          <p:cNvPr id="15" name="Hexagon 14"/>
          <p:cNvSpPr/>
          <p:nvPr/>
        </p:nvSpPr>
        <p:spPr>
          <a:xfrm>
            <a:off x="457200" y="2468880"/>
            <a:ext cx="731520" cy="731520"/>
          </a:xfrm>
          <a:prstGeom prst="hexagon">
            <a:avLst/>
          </a:prstGeom>
          <a:solidFill>
            <a:srgbClr val="131924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060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560320"/>
            <a:ext cx="10058400" cy="548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2560320"/>
            <a:ext cx="91440" cy="54864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2697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55"/>
                </a:solidFill>
              </a:rPr>
              <a:t>MESH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71576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4 Routers physically wired into a 2×2 grid fabric (noc_top.v).</a:t>
            </a:r>
          </a:p>
        </p:txBody>
      </p:sp>
      <p:sp>
        <p:nvSpPr>
          <p:cNvPr id="21" name="Hexagon 20"/>
          <p:cNvSpPr/>
          <p:nvPr/>
        </p:nvSpPr>
        <p:spPr>
          <a:xfrm>
            <a:off x="457200" y="3474720"/>
            <a:ext cx="731520" cy="731520"/>
          </a:xfrm>
          <a:prstGeom prst="hexagon">
            <a:avLst/>
          </a:prstGeom>
          <a:solidFill>
            <a:srgbClr val="131924"/>
          </a:solidFill>
          <a:ln w="254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3566160"/>
            <a:ext cx="10058400" cy="548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71600" y="3566160"/>
            <a:ext cx="91440" cy="548640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3703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66"/>
                </a:solidFill>
              </a:rPr>
              <a:t>FLOW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72160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Valid-Ready protocol guarantees absolutely zero dropped packets.</a:t>
            </a:r>
          </a:p>
        </p:txBody>
      </p:sp>
      <p:sp>
        <p:nvSpPr>
          <p:cNvPr id="27" name="Hexagon 26"/>
          <p:cNvSpPr/>
          <p:nvPr/>
        </p:nvSpPr>
        <p:spPr>
          <a:xfrm>
            <a:off x="457200" y="4480560"/>
            <a:ext cx="731520" cy="731520"/>
          </a:xfrm>
          <a:prstGeom prst="hexagon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572000"/>
            <a:ext cx="10058400" cy="548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1600" y="4572000"/>
            <a:ext cx="91440" cy="54864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4709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AFF"/>
                </a:solidFill>
              </a:rPr>
              <a:t>SIMULATION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72744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Trace packet lifecycle via Vivado behavioral waveforms.</a:t>
            </a:r>
          </a:p>
        </p:txBody>
      </p:sp>
      <p:sp>
        <p:nvSpPr>
          <p:cNvPr id="33" name="Hexagon 32"/>
          <p:cNvSpPr/>
          <p:nvPr/>
        </p:nvSpPr>
        <p:spPr>
          <a:xfrm>
            <a:off x="457200" y="5486400"/>
            <a:ext cx="731520" cy="731520"/>
          </a:xfrm>
          <a:prstGeom prst="hexagon">
            <a:avLst/>
          </a:prstGeom>
          <a:solidFill>
            <a:srgbClr val="131924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6235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577840"/>
            <a:ext cx="10058400" cy="54864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1600" y="5577840"/>
            <a:ext cx="91440" cy="54864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5715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0055"/>
                </a:solidFill>
              </a:rPr>
              <a:t>MATLAB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7332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EA9B8"/>
                </a:solidFill>
              </a:rPr>
              <a:t>Parse raw CSV data to quantify latency vs. load boundaries.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SYSTEM ARCHITECTURE: 2×2 MESH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59" y="1325880"/>
            <a:ext cx="10972800" cy="5212079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oc_architecture_diagram_1783936844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HARDWARE BREAKDOWN: ROUTER NODE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325880"/>
            <a:ext cx="6766559" cy="4389120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uter_internal_diagram_1783936877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675120" cy="4297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1417320"/>
            <a:ext cx="4206240" cy="2468880"/>
          </a:xfrm>
          <a:prstGeom prst="rect">
            <a:avLst/>
          </a:prstGeom>
          <a:noFill/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4206240" cy="24688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4206240" cy="7315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3840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FIFO BUFFER (FIFO.V)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38404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Depth = 4, Width = 8-bit.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First-Word Fall-Through (FWFT): data visible instantly.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Updates full &amp; empty flags to drive handshake.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69080"/>
            <a:ext cx="4206240" cy="2468880"/>
          </a:xfrm>
          <a:prstGeom prst="rect">
            <a:avLst/>
          </a:prstGeom>
          <a:noFill/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4206240" cy="24688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4206240" cy="7315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38404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ROUTING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38404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Reads dest_addr from packet[7:6].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Resolves X-mismatch first, then Y-mismatch.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Asserts local_hit if destination matches node X,Y.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PACKET JOURNEY &amp; XY ROUTING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325880"/>
            <a:ext cx="5852159" cy="3017520"/>
          </a:xfrm>
          <a:prstGeom prst="rect">
            <a:avLst/>
          </a:prstGeom>
          <a:noFill/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cket_format_diagram_1783936897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2926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1417320"/>
            <a:ext cx="5120640" cy="5029200"/>
          </a:xfrm>
          <a:prstGeom prst="rect">
            <a:avLst/>
          </a:prstGeom>
          <a:noFill/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120640" cy="50292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5120640" cy="7315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508760"/>
            <a:ext cx="4754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EXECUTION TRACE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INIT: FIFOs flushed, Traffic generator preloads 0x01.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HANDSHAKE: in_valid=1 &amp; in_ready=1 → packet ingested.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ROUTE (Local): Node(0,0) receives 0x01 (dest=00) → local_hit immediately.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ROUTE (Multi-hop): Node(0,0) receives 0x99 (dest=10) → routes South → hops to Node(1,0) → local_hit.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LOGGING: testbench traces inject_cycle &amp; deliver_cycle to calculate nanosecond latency.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4617720"/>
            <a:ext cx="5760720" cy="1828800"/>
          </a:xfrm>
          <a:prstGeom prst="rect">
            <a:avLst/>
          </a:prstGeom>
          <a:noFill/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4572000"/>
            <a:ext cx="5760720" cy="18288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4572000"/>
            <a:ext cx="5760720" cy="7315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4709160"/>
            <a:ext cx="539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XY DETERMINISTIC ALGORITHM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120640"/>
            <a:ext cx="53949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if (dest_X != current_X) -&gt; route EAST/WEST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else if (dest_Y != current_Y) -&gt; route NORTH/SOUTH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else -&gt; local_hit 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SIMULATION OUTPUTS &amp;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94960" cy="2926080"/>
          </a:xfrm>
          <a:prstGeom prst="rect">
            <a:avLst/>
          </a:prstGeom>
          <a:solidFill>
            <a:srgbClr val="131924"/>
          </a:solidFill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EAFF"/>
                </a:solidFill>
              </a:rPr>
              <a:t>[ PASTE VIVADO WAVEFORM HERE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26280"/>
            <a:ext cx="5394960" cy="2011680"/>
          </a:xfrm>
          <a:prstGeom prst="rect">
            <a:avLst/>
          </a:prstGeom>
          <a:noFill/>
          <a:ln w="127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4480560"/>
            <a:ext cx="5394960" cy="20116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480560"/>
            <a:ext cx="5394960" cy="73152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WAVEFORM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sink_packet[31:0] = ED994501 -&gt; 100% successful multi-node delivery.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test_done asserts at cycle 7. Zero packet collisions.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Max path delay = 3 clock cycles.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394960" cy="2926080"/>
          </a:xfrm>
          <a:prstGeom prst="rect">
            <a:avLst/>
          </a:prstGeom>
          <a:solidFill>
            <a:srgbClr val="131924"/>
          </a:solidFill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0055"/>
                </a:solidFill>
              </a:rPr>
              <a:t>[ PASTE MATLAB PLOTS HERE 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4526280"/>
            <a:ext cx="5394960" cy="2011680"/>
          </a:xfrm>
          <a:prstGeom prst="rect">
            <a:avLst/>
          </a:prstGeom>
          <a:noFill/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480560"/>
            <a:ext cx="5394960" cy="201168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4480560"/>
            <a:ext cx="5394960" cy="7315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MATLAB PERFORMANCE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Throughput peaks at 0.57 pkts/cycle.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Network hits saturation wall at 30% traffic load.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FIFO depth of 4 proves insufficient for high-volume sustained traffic.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-182880" y="365760"/>
            <a:ext cx="1097280" cy="548640"/>
          </a:xfrm>
          <a:prstGeom prst="parallelogram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-45720" y="411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10972800" cy="45720"/>
          </a:xfrm>
          <a:prstGeom prst="rect">
            <a:avLst/>
          </a:prstGeom>
          <a:solidFill>
            <a:srgbClr val="00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EAFF"/>
                </a:solidFill>
              </a:rPr>
              <a:t>SYSTEM LIMITATIONS &amp; FUTURE TRAJECTORY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5303520" cy="5029200"/>
          </a:xfrm>
          <a:prstGeom prst="rect">
            <a:avLst/>
          </a:prstGeom>
          <a:noFill/>
          <a:ln w="127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303520" cy="73152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CURRENT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493775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RIGID ROUTING: Deterministic XY algorithm cannot detour around dead/congested links.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SHALLOW BUFFERS: FIFO depth=4 triggers rapid packet drops past 30% load threshold.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LACKS FAULT TOLERANCE: No parity checks or timeout resets for dropped packets.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TEST STIMULUS: Only tests single-source injection, bypassing heavy cross-traffic collision scenarios.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417320"/>
            <a:ext cx="5303520" cy="5029200"/>
          </a:xfrm>
          <a:prstGeom prst="rect">
            <a:avLst/>
          </a:prstGeom>
          <a:noFill/>
          <a:ln w="12700">
            <a:solidFill>
              <a:srgbClr val="00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303520" cy="73152"/>
          </a:xfrm>
          <a:prstGeom prst="rect">
            <a:avLst/>
          </a:prstGeom>
          <a:solidFill>
            <a:srgbClr val="00F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FUTURE UPGRADES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493775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ADAPTIVE ROUTING: Implement smart algorithms to sense adjacent FIFO fullness and detour traffic dynamically.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VIRTUAL CHANNELS: Multiplex physical links to prevent Head-of-Line (HoL) blocking.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SILICON PROTOTYPING: Synthesize onto Xilinx Artix-7 FPGA to validate physical timing slack and max MHz.</a:t>
            </a:r>
          </a:p>
          <a:p>
            <a:pPr>
              <a:spcBef>
                <a:spcPts val="800"/>
              </a:spcBef>
            </a:pPr>
            <a:r>
              <a:rPr sz="1150">
                <a:solidFill>
                  <a:srgbClr val="9EA9B8"/>
                </a:solidFill>
              </a:rPr>
              <a:t>&gt;&gt; SCALE OUT: Parameterize architecture to scale linearly up to 8×8 (64-core) enterprise setups.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914400" y="0"/>
            <a:ext cx="3657600" cy="68580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10972800" y="-1828800"/>
            <a:ext cx="2743200" cy="8686800"/>
          </a:xfrm>
          <a:prstGeom prst="parallelogram">
            <a:avLst/>
          </a:prstGeom>
          <a:solidFill>
            <a:srgbClr val="131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914400"/>
            <a:ext cx="9445752" cy="5029200"/>
          </a:xfrm>
          <a:prstGeom prst="rect">
            <a:avLst/>
          </a:prstGeom>
          <a:solidFill>
            <a:srgbClr val="131924"/>
          </a:solidFill>
          <a:ln w="25400">
            <a:solidFill>
              <a:srgbClr val="00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EAFF"/>
                </a:solidFill>
              </a:rPr>
              <a:t>MISSION ACCOMPLISHED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85313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[+] RTL SUCCESS: Delivered 5 fully synthesisable Verilog modules mapped to a 2×2 grid.</a:t>
            </a:r>
          </a:p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[+] DATA INTEGRITY: Valid-Ready handshake ensured 0% packet loss under normal operating conditions.</a:t>
            </a:r>
          </a:p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[+] PERFORMANCE MAPPED: MATLAB telemetry accurately identified the 30% saturation threshold limit.</a:t>
            </a:r>
          </a:p>
          <a:p>
            <a:pPr>
              <a:spcBef>
                <a:spcPts val="1500"/>
              </a:spcBef>
            </a:pPr>
            <a:r>
              <a:rPr sz="1400" b="1">
                <a:solidFill>
                  <a:srgbClr val="FFFFFF"/>
                </a:solidFill>
              </a:rPr>
              <a:t>[+] FUTURE READY: Modular Verilog architecture provides a robust foundation for next-gen adaptive NoC research.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